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1" r:id="rId21"/>
  </p:sldIdLst>
  <p:sldSz cy="5143500" cx="9144000"/>
  <p:notesSz cx="6858000" cy="9144000"/>
  <p:embeddedFontLst>
    <p:embeddedFont>
      <p:font typeface="Google Sans Flex Medium"/>
      <p:regular r:id="rId22"/>
      <p:bold r:id="rId23"/>
    </p:embeddedFont>
    <p:embeddedFont>
      <p:font typeface="Google Sans Flex"/>
      <p:regular r:id="rId24"/>
      <p:bold r:id="rId25"/>
    </p:embeddedFont>
    <p:embeddedFont>
      <p:font typeface="Google Sans Flex SemiBold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1" Type="http://schemas.openxmlformats.org/officeDocument/2006/relationships/slide" Target="slides/slide16.xml"/><Relationship Id="rId22" Type="http://schemas.openxmlformats.org/officeDocument/2006/relationships/font" Target="fonts/GoogleSansFlexMedium-regular.fntdata"/><Relationship Id="rId23" Type="http://schemas.openxmlformats.org/officeDocument/2006/relationships/font" Target="fonts/GoogleSansFlexMedium-bold.fntdata"/><Relationship Id="rId24" Type="http://schemas.openxmlformats.org/officeDocument/2006/relationships/font" Target="fonts/GoogleSansFlex-regular.fntdata"/><Relationship Id="rId25" Type="http://schemas.openxmlformats.org/officeDocument/2006/relationships/font" Target="fonts/GoogleSansFlex-bold.fntdata"/><Relationship Id="rId26" Type="http://schemas.openxmlformats.org/officeDocument/2006/relationships/font" Target="fonts/GoogleSansFlexSemiBold-regular.fntdata"/><Relationship Id="rId27" Type="http://schemas.openxmlformats.org/officeDocument/2006/relationships/font" Target="fonts/GoogleSansFlexSemiBol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085bff3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085bff3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085bff3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085bff3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085bff3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b085bff3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b085bff3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085bff3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085bff3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085bff3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b085bff3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085bff3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085bff3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b085bff3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085bff3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085bff3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b085bff3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hyperlink" Target="https://github.com/karan2314/AI-Code-Builder" TargetMode="External"/><Relationship Id="rId6" Type="http://schemas.openxmlformats.org/officeDocument/2006/relationships/hyperlink" Target="https://fraudlens-579191985047.us-central1.run.app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6600" y="2902694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Team Details</a:t>
            </a:r>
            <a:endParaRPr sz="21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name: Agentic syndicate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leader name: Karan R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Problem Statement: </a:t>
            </a:r>
            <a:r>
              <a:rPr sz="1400">
                <a:latin typeface="Google Sans Flex"/>
              </a:rPr>
              <a:t>Intelligent Risk, Fraud &amp; Financial Experiences (BFSI). Fraud teams drown in alerts with no evidence to act on: FraudLens AI turns a suspicious transaction into an evidence-backed, reviewable fraud case in seconds.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Brief about the idea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292608" y="1188720"/>
            <a:ext cx="4160520" cy="2743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73E8"/>
                </a:solidFill>
                <a:latin typeface="Google Sans Flex SemiBold"/>
              </a:rPr>
              <a:t>FraudLens AI · agentic fraud detection, investigation &amp; response on Google Cloud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202124"/>
                </a:solidFill>
                <a:latin typeface="Google Sans Flex"/>
              </a:rPr>
              <a:t>Banks see huge volumes of legitimate payments and a tiny share of fraud. Sending everything to an LLM is slow and expensive, fixed rules create false positives, and black-box scores give analysts nothing to act on.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202124"/>
                </a:solidFill>
                <a:latin typeface="Google Sans Flex"/>
              </a:rPr>
              <a:t>FraudLens separates the problems: ML screens every transaction, Google ADK agents investigate only the alerts with verified tools, Gemini writes a summary in which every claim cites evidence, and a deterministic policy engine (not the LLM) decides the risk tier. The analyst approves or overrides, and every step is audited.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5F6368"/>
                </a:solidFill>
                <a:latin typeface="Google Sans Flex SemiBold"/>
              </a:rPr>
              <a:t>Live on Cloud Run with real Gemini. </a:t>
            </a:r>
            <a:r>
              <a:rPr sz="1000" b="0">
                <a:solidFill>
                  <a:srgbClr val="5F6368"/>
                </a:solidFill>
                <a:latin typeface="Google Sans Flex"/>
              </a:rPr>
              <a:t>Synthetic data; all account actions simulated.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709160" y="1188720"/>
            <a:ext cx="4114800" cy="493776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A73E8"/>
                </a:solidFill>
                <a:latin typeface="Google Sans Flex SemiBold"/>
              </a:rPr>
              <a:t>1  Screen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</a:rPr>
              <a:t>rules + ML on every payment · no LLM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709160" y="1755648"/>
            <a:ext cx="4114800" cy="493776"/>
          </a:xfrm>
          <a:prstGeom prst="roundRect">
            <a:avLst>
              <a:gd name="adj" fmla="val 6000"/>
            </a:avLst>
          </a:prstGeom>
          <a:solidFill>
            <a:srgbClr val="F3E8FD"/>
          </a:solidFill>
          <a:ln w="12700">
            <a:solidFill>
              <a:srgbClr val="843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8430CE"/>
                </a:solidFill>
                <a:latin typeface="Google Sans Flex SemiBold"/>
              </a:rPr>
              <a:t>2  Investigate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</a:rPr>
              <a:t>ADK orchestrator + 3 specialist agents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709160" y="2322576"/>
            <a:ext cx="4114800" cy="493776"/>
          </a:xfrm>
          <a:prstGeom prst="roundRect">
            <a:avLst>
              <a:gd name="adj" fmla="val 6000"/>
            </a:avLst>
          </a:prstGeom>
          <a:solidFill>
            <a:srgbClr val="F3E8FD"/>
          </a:solidFill>
          <a:ln w="12700">
            <a:solidFill>
              <a:srgbClr val="843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8430CE"/>
                </a:solidFill>
                <a:latin typeface="Google Sans Flex SemiBold"/>
              </a:rPr>
              <a:t>3  Explain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</a:rPr>
              <a:t>Gemini summary · every claim cites evidence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709160" y="2889504"/>
            <a:ext cx="4114800" cy="493776"/>
          </a:xfrm>
          <a:prstGeom prst="roundRect">
            <a:avLst>
              <a:gd name="adj" fmla="val 6000"/>
            </a:avLst>
          </a:prstGeom>
          <a:solidFill>
            <a:srgbClr val="FEF7E0"/>
          </a:solidFill>
          <a:ln w="12700">
            <a:solidFill>
              <a:srgbClr val="E37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E37400"/>
                </a:solidFill>
                <a:latin typeface="Google Sans Flex SemiBold"/>
              </a:rPr>
              <a:t>4  Decide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</a:rPr>
              <a:t>policy engine R1–R8 → Tier 1 · 2 · 3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709160" y="3456432"/>
            <a:ext cx="4114800" cy="493776"/>
          </a:xfrm>
          <a:prstGeom prst="roundRect">
            <a:avLst>
              <a:gd name="adj" fmla="val 6000"/>
            </a:avLst>
          </a:prstGeom>
          <a:solidFill>
            <a:srgbClr val="E6F4EA"/>
          </a:solidFill>
          <a:ln w="12700">
            <a:solidFill>
              <a:srgbClr val="188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88038"/>
                </a:solidFill>
                <a:latin typeface="Google Sans Flex SemiBold"/>
              </a:rPr>
              <a:t>5  Respond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</a:rPr>
              <a:t>simulated action · analyst approves · audit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92608" y="4736592"/>
            <a:ext cx="8558784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800" b="0">
                <a:solidFill>
                  <a:srgbClr val="5F6368"/>
                </a:solidFill>
                <a:latin typeface="Google Sans Flex"/>
              </a:rPr>
              <a:t>ML handles scale · tools provide verified evidence · agents orchestrate · Gemini explains · policy controls the action · humans decide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</p:txBody>
      </p:sp>
      <p:sp>
        <p:nvSpPr>
          <p:cNvPr id="80" name="Rounded Rectangle 79"/>
          <p:cNvSpPr/>
          <p:nvPr/>
        </p:nvSpPr>
        <p:spPr>
          <a:xfrm>
            <a:off x="292608" y="1188720"/>
            <a:ext cx="2761488" cy="3611880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A73E8"/>
                </a:solidFill>
                <a:latin typeface="Google Sans Flex SemiBold"/>
              </a:rPr>
              <a:t>How is it different?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</a:rPr>
              <a:t>•  </a:t>
            </a:r>
            <a:r>
              <a:rPr sz="1000" b="0">
                <a:solidFill>
                  <a:srgbClr val="202124"/>
                </a:solidFill>
                <a:latin typeface="Google Sans Flex"/>
              </a:rPr>
              <a:t>Rules engines flag anything unusual; FraudLens compares each payment with the customer's own baseline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</a:rPr>
              <a:t>•  </a:t>
            </a:r>
            <a:r>
              <a:rPr sz="1000" b="0">
                <a:solidFill>
                  <a:srgbClr val="202124"/>
                </a:solidFill>
                <a:latin typeface="Google Sans Flex"/>
              </a:rPr>
              <a:t>ML scores give a number; FraudLens gives a case with cited evidence, timeline and network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</a:rPr>
              <a:t>•  </a:t>
            </a:r>
            <a:r>
              <a:rPr sz="1000" b="0">
                <a:solidFill>
                  <a:srgbClr val="202124"/>
                </a:solidFill>
                <a:latin typeface="Google Sans Flex"/>
              </a:rPr>
              <a:t>LLM chatbots summarise and can hallucinate; FraudLens agents execute verified tools, and unsupported claims are dropped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</a:rPr>
              <a:t>•  </a:t>
            </a:r>
            <a:r>
              <a:rPr sz="1000" b="0">
                <a:solidFill>
                  <a:srgbClr val="202124"/>
                </a:solidFill>
                <a:latin typeface="Google Sans Flex"/>
              </a:rPr>
              <a:t>The LLM never acts: a deterministic, versioned policy decides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3172968" y="1188720"/>
            <a:ext cx="2761488" cy="3611880"/>
          </a:xfrm>
          <a:prstGeom prst="roundRect">
            <a:avLst>
              <a:gd name="adj" fmla="val 6000"/>
            </a:avLst>
          </a:prstGeom>
          <a:solidFill>
            <a:srgbClr val="F3E8FD"/>
          </a:solidFill>
          <a:ln w="12700">
            <a:solidFill>
              <a:srgbClr val="843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8430CE"/>
                </a:solidFill>
                <a:latin typeface="Google Sans Flex SemiBold"/>
              </a:rPr>
              <a:t>How does it solve the problem?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</a:rPr>
              <a:t>•  </a:t>
            </a:r>
            <a:r>
              <a:rPr sz="1000" b="0">
                <a:solidFill>
                  <a:srgbClr val="202124"/>
                </a:solidFill>
                <a:latin typeface="Google Sans Flex"/>
              </a:rPr>
              <a:t>Only ~0.7% of transactions reach the agents, so AI cost tracks alerts, not volume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</a:rPr>
              <a:t>•  </a:t>
            </a:r>
            <a:r>
              <a:rPr sz="1000" b="0">
                <a:solidFill>
                  <a:srgbClr val="202124"/>
                </a:solidFill>
                <a:latin typeface="Google Sans Flex"/>
              </a:rPr>
              <a:t>Agents gather behaviour, velocity, device and mule-network evidence in seconds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</a:rPr>
              <a:t>•  </a:t>
            </a:r>
            <a:r>
              <a:rPr sz="1000" b="0">
                <a:solidFill>
                  <a:srgbClr val="202124"/>
                </a:solidFill>
                <a:latin typeface="Google Sans Flex"/>
              </a:rPr>
              <a:t>Analysts open a finished investigation package instead of a blank page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</a:rPr>
              <a:t>•  </a:t>
            </a:r>
            <a:r>
              <a:rPr sz="1000" b="0">
                <a:solidFill>
                  <a:srgbClr val="202124"/>
                </a:solidFill>
                <a:latin typeface="Google Sans Flex"/>
              </a:rPr>
              <a:t>Overrides need a reason and feed agreement metrics: a built-in feedback loop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053328" y="1188720"/>
            <a:ext cx="2761488" cy="3611880"/>
          </a:xfrm>
          <a:prstGeom prst="roundRect">
            <a:avLst>
              <a:gd name="adj" fmla="val 6000"/>
            </a:avLst>
          </a:prstGeom>
          <a:solidFill>
            <a:srgbClr val="FEF7E0"/>
          </a:solidFill>
          <a:ln w="12700">
            <a:solidFill>
              <a:srgbClr val="E37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E37400"/>
                </a:solidFill>
                <a:latin typeface="Google Sans Flex SemiBold"/>
              </a:rPr>
              <a:t>USP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</a:rPr>
              <a:t>•  </a:t>
            </a:r>
            <a:r>
              <a:rPr sz="1000" b="0">
                <a:solidFill>
                  <a:srgbClr val="202124"/>
                </a:solidFill>
                <a:latin typeface="Google Sans Flex"/>
              </a:rPr>
              <a:t>Grounded by construction: 100% evidence validity, 0 invalid citations (measured)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</a:rPr>
              <a:t>•  </a:t>
            </a:r>
            <a:r>
              <a:rPr sz="1000" b="0">
                <a:solidFill>
                  <a:srgbClr val="202124"/>
                </a:solidFill>
                <a:latin typeface="Google Sans Flex"/>
              </a:rPr>
              <a:t>Progressive autonomy (L2: AI investigates, human decides) with per-tier ceilings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</a:rPr>
              <a:t>•  </a:t>
            </a:r>
            <a:r>
              <a:rPr sz="1000" b="0">
                <a:solidFill>
                  <a:srgbClr val="202124"/>
                </a:solidFill>
                <a:latin typeface="Google Sans Flex"/>
              </a:rPr>
              <a:t>Graceful degradation: AI failure → deterministic evidence + manual review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</a:rPr>
              <a:t>•  </a:t>
            </a:r>
            <a:r>
              <a:rPr sz="1000" b="0">
                <a:solidFill>
                  <a:srgbClr val="202124"/>
                </a:solidFill>
                <a:latin typeface="Google Sans Flex"/>
              </a:rPr>
              <a:t>Regulator-ready: append-only audit, versioned model, policy and prompts in every case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List of features offered by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88" name="Rounded Rectangle 87"/>
          <p:cNvSpPr/>
          <p:nvPr/>
        </p:nvSpPr>
        <p:spPr>
          <a:xfrm>
            <a:off x="292608" y="1188720"/>
            <a:ext cx="4206240" cy="530352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A73E8"/>
                </a:solidFill>
                <a:latin typeface="Google Sans Flex SemiBold"/>
              </a:rPr>
              <a:t>Real-time screening</a:t>
            </a:r>
          </a:p>
          <a:p>
            <a:pPr>
              <a:spcAft>
                <a:spcPts val="0"/>
              </a:spcAft>
            </a:pPr>
            <a:r>
              <a:rPr sz="900" b="0">
                <a:solidFill>
                  <a:srgbClr val="202124"/>
                </a:solidFill>
                <a:latin typeface="Google Sans Flex"/>
              </a:rPr>
              <a:t>27 point-in-time features · rules + gradient boosting + Isolation Forest · reason codes · 0–1000 risk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4617720" y="1188720"/>
            <a:ext cx="4206240" cy="530352"/>
          </a:xfrm>
          <a:prstGeom prst="roundRect">
            <a:avLst>
              <a:gd name="adj" fmla="val 6000"/>
            </a:avLst>
          </a:prstGeom>
          <a:solidFill>
            <a:srgbClr val="F3E8FD"/>
          </a:solidFill>
          <a:ln w="12700">
            <a:solidFill>
              <a:srgbClr val="843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8430CE"/>
                </a:solidFill>
                <a:latin typeface="Google Sans Flex SemiBold"/>
              </a:rPr>
              <a:t>Agentic investigation (ADK)</a:t>
            </a:r>
          </a:p>
          <a:p>
            <a:pPr>
              <a:spcAft>
                <a:spcPts val="0"/>
              </a:spcAft>
            </a:pPr>
            <a:r>
              <a:rPr sz="900" b="0">
                <a:solidFill>
                  <a:srgbClr val="202124"/>
                </a:solidFill>
                <a:latin typeface="Google Sans Flex"/>
              </a:rPr>
              <a:t>Orchestrator + Behavior, Transaction, Network agents · 11 guarded deterministic tools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292608" y="1792224"/>
            <a:ext cx="4206240" cy="530352"/>
          </a:xfrm>
          <a:prstGeom prst="roundRect">
            <a:avLst>
              <a:gd name="adj" fmla="val 6000"/>
            </a:avLst>
          </a:prstGeom>
          <a:solidFill>
            <a:srgbClr val="F3E8FD"/>
          </a:solidFill>
          <a:ln w="12700">
            <a:solidFill>
              <a:srgbClr val="843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8430CE"/>
                </a:solidFill>
                <a:latin typeface="Google Sans Flex SemiBold"/>
              </a:rPr>
              <a:t>Grounded Gemini summary</a:t>
            </a:r>
          </a:p>
          <a:p>
            <a:pPr>
              <a:spcAft>
                <a:spcPts val="0"/>
              </a:spcAft>
            </a:pPr>
            <a:r>
              <a:rPr sz="900" b="0">
                <a:solidFill>
                  <a:srgbClr val="202124"/>
                </a:solidFill>
                <a:latin typeface="Google Sans Flex"/>
              </a:rPr>
              <a:t>Structured JSON · every finding cites evidence IDs · citation validator · limitations listed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4617720" y="1792224"/>
            <a:ext cx="4206240" cy="530352"/>
          </a:xfrm>
          <a:prstGeom prst="roundRect">
            <a:avLst>
              <a:gd name="adj" fmla="val 6000"/>
            </a:avLst>
          </a:prstGeom>
          <a:solidFill>
            <a:srgbClr val="FEF7E0"/>
          </a:solidFill>
          <a:ln w="12700">
            <a:solidFill>
              <a:srgbClr val="E37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E37400"/>
                </a:solidFill>
                <a:latin typeface="Google Sans Flex SemiBold"/>
              </a:rPr>
              <a:t>Deterministic policy engine</a:t>
            </a:r>
          </a:p>
          <a:p>
            <a:pPr>
              <a:spcAft>
                <a:spcPts val="0"/>
              </a:spcAft>
            </a:pPr>
            <a:r>
              <a:rPr sz="900" b="0">
                <a:solidFill>
                  <a:srgbClr val="202124"/>
                </a:solidFill>
                <a:latin typeface="Google Sans Flex"/>
              </a:rPr>
              <a:t>Rules R1–R8 → Monitor / Verify / Contain · Gemini and Laya tiers are advisory only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292608" y="2395728"/>
            <a:ext cx="4206240" cy="530352"/>
          </a:xfrm>
          <a:prstGeom prst="roundRect">
            <a:avLst>
              <a:gd name="adj" fmla="val 6000"/>
            </a:avLst>
          </a:prstGeom>
          <a:solidFill>
            <a:srgbClr val="E6F4EA"/>
          </a:solidFill>
          <a:ln w="12700">
            <a:solidFill>
              <a:srgbClr val="188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88038"/>
                </a:solidFill>
                <a:latin typeface="Google Sans Flex SemiBold"/>
              </a:rPr>
              <a:t>Human-in-the-loop governance</a:t>
            </a:r>
          </a:p>
          <a:p>
            <a:pPr>
              <a:spcAft>
                <a:spcPts val="0"/>
              </a:spcAft>
            </a:pPr>
            <a:r>
              <a:rPr sz="900" b="0">
                <a:solidFill>
                  <a:srgbClr val="202124"/>
                </a:solidFill>
                <a:latin typeface="Google Sans Flex"/>
              </a:rPr>
              <a:t>Autonomy ladder · override reasons · analyst ↔ policy / Gemini agreement · append-only audit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4617720" y="2395728"/>
            <a:ext cx="4206240" cy="530352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A73E8"/>
                </a:solidFill>
                <a:latin typeface="Google Sans Flex SemiBold"/>
              </a:rPr>
              <a:t>Fraud operations workspace</a:t>
            </a:r>
          </a:p>
          <a:p>
            <a:pPr>
              <a:spcAft>
                <a:spcPts val="0"/>
              </a:spcAft>
            </a:pPr>
            <a:r>
              <a:rPr sz="900" b="0">
                <a:solidFill>
                  <a:srgbClr val="202124"/>
                </a:solidFill>
                <a:latin typeface="Google Sans Flex"/>
              </a:rPr>
              <a:t>Dashboard KPIs · priority queue with SLA and owner · cases board · global search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292608" y="2999232"/>
            <a:ext cx="4206240" cy="530352"/>
          </a:xfrm>
          <a:prstGeom prst="roundRect">
            <a:avLst>
              <a:gd name="adj" fmla="val 6000"/>
            </a:avLst>
          </a:prstGeom>
          <a:solidFill>
            <a:srgbClr val="E6F4EA"/>
          </a:solidFill>
          <a:ln w="12700">
            <a:solidFill>
              <a:srgbClr val="188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88038"/>
                </a:solidFill>
                <a:latin typeface="Google Sans Flex SemiBold"/>
              </a:rPr>
              <a:t>Entity network graph</a:t>
            </a:r>
          </a:p>
          <a:p>
            <a:pPr>
              <a:spcAft>
                <a:spcPts val="0"/>
              </a:spcAft>
            </a:pPr>
            <a:r>
              <a:rPr sz="900" b="0">
                <a:solidFill>
                  <a:srgbClr val="202124"/>
                </a:solidFill>
                <a:latin typeface="Google Sans Flex"/>
              </a:rPr>
              <a:t>Shared devices and mule links · hops to confirmed fraud · interactive graph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4617720" y="2999232"/>
            <a:ext cx="4206240" cy="530352"/>
          </a:xfrm>
          <a:prstGeom prst="roundRect">
            <a:avLst>
              <a:gd name="adj" fmla="val 6000"/>
            </a:avLst>
          </a:prstGeom>
          <a:solidFill>
            <a:srgbClr val="FEF7E0"/>
          </a:solidFill>
          <a:ln w="12700">
            <a:solidFill>
              <a:srgbClr val="E37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E37400"/>
                </a:solidFill>
                <a:latin typeface="Google Sans Flex SemiBold"/>
              </a:rPr>
              <a:t>Simulated response</a:t>
            </a:r>
          </a:p>
          <a:p>
            <a:pPr>
              <a:spcAft>
                <a:spcPts val="0"/>
              </a:spcAft>
            </a:pPr>
            <a:r>
              <a:rPr sz="900" b="0">
                <a:solidFill>
                  <a:srgbClr val="202124"/>
                </a:solidFill>
                <a:latin typeface="Google Sans Flex"/>
              </a:rPr>
              <a:t>Verification, escalation and restriction are simulated, logged and never touch real accounts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292608" y="3602736"/>
            <a:ext cx="4206240" cy="530352"/>
          </a:xfrm>
          <a:prstGeom prst="roundRect">
            <a:avLst>
              <a:gd name="adj" fmla="val 6000"/>
            </a:avLst>
          </a:prstGeom>
          <a:solidFill>
            <a:srgbClr val="FCE8E6"/>
          </a:solidFill>
          <a:ln w="12700">
            <a:solidFill>
              <a:srgbClr val="D930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D93025"/>
                </a:solidFill>
                <a:latin typeface="Google Sans Flex SemiBold"/>
              </a:rPr>
              <a:t>Graceful degradation</a:t>
            </a:r>
          </a:p>
          <a:p>
            <a:pPr>
              <a:spcAft>
                <a:spcPts val="0"/>
              </a:spcAft>
            </a:pPr>
            <a:r>
              <a:rPr sz="900" b="0">
                <a:solidFill>
                  <a:srgbClr val="202124"/>
                </a:solidFill>
                <a:latin typeface="Google Sans Flex"/>
              </a:rPr>
              <a:t>AI error, timeout or daily cap → deterministic tools, unavailable evidence flagged, manual review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4617720" y="3602736"/>
            <a:ext cx="4206240" cy="530352"/>
          </a:xfrm>
          <a:prstGeom prst="roundRect">
            <a:avLst>
              <a:gd name="adj" fmla="val 6000"/>
            </a:avLst>
          </a:prstGeom>
          <a:solidFill>
            <a:srgbClr val="F3E8FD"/>
          </a:solidFill>
          <a:ln w="12700">
            <a:solidFill>
              <a:srgbClr val="843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8430CE"/>
                </a:solidFill>
                <a:latin typeface="Google Sans Flex SemiBold"/>
              </a:rPr>
              <a:t>Laya advisory triage</a:t>
            </a:r>
          </a:p>
          <a:p>
            <a:pPr>
              <a:spcAft>
                <a:spcPts val="0"/>
              </a:spcAft>
            </a:pPr>
            <a:r>
              <a:rPr sz="900" b="0">
                <a:solidFill>
                  <a:srgbClr val="202124"/>
                </a:solidFill>
                <a:latin typeface="Google Sans Flex"/>
              </a:rPr>
              <a:t>Open-weight decision model on private Cloud Run · runs in parallel · never sets the tier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292608" y="4206240"/>
            <a:ext cx="4206240" cy="530352"/>
          </a:xfrm>
          <a:prstGeom prst="roundRect">
            <a:avLst>
              <a:gd name="adj" fmla="val 6000"/>
            </a:avLst>
          </a:prstGeom>
          <a:solidFill>
            <a:srgbClr val="E6F4EA"/>
          </a:solidFill>
          <a:ln w="12700">
            <a:solidFill>
              <a:srgbClr val="188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88038"/>
                </a:solidFill>
                <a:latin typeface="Google Sans Flex SemiBold"/>
              </a:rPr>
              <a:t>Built-in evaluation</a:t>
            </a:r>
          </a:p>
          <a:p>
            <a:pPr>
              <a:spcAft>
                <a:spcPts val="0"/>
              </a:spcAft>
            </a:pPr>
            <a:r>
              <a:rPr sz="900" b="0">
                <a:solidFill>
                  <a:srgbClr val="202124"/>
                </a:solidFill>
                <a:latin typeface="Google Sans Flex"/>
              </a:rPr>
              <a:t>Script-generated metrics · golden scenarios · rules vs ML vs agentic benchmarks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4617720" y="4206240"/>
            <a:ext cx="4206240" cy="530352"/>
          </a:xfrm>
          <a:prstGeom prst="roundRect">
            <a:avLst>
              <a:gd name="adj" fmla="val 6000"/>
            </a:avLst>
          </a:prstGeom>
          <a:solidFill>
            <a:srgbClr val="FCE8E6"/>
          </a:solidFill>
          <a:ln w="12700">
            <a:solidFill>
              <a:srgbClr val="D930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D93025"/>
                </a:solidFill>
                <a:latin typeface="Google Sans Flex SemiBold"/>
              </a:rPr>
              <a:t>Security by default</a:t>
            </a:r>
          </a:p>
          <a:p>
            <a:pPr>
              <a:spcAft>
                <a:spcPts val="0"/>
              </a:spcAft>
            </a:pPr>
            <a:r>
              <a:rPr sz="900" b="0">
                <a:solidFill>
                  <a:srgbClr val="202124"/>
                </a:solidFill>
                <a:latin typeface="Google Sans Flex"/>
              </a:rPr>
              <a:t>Least-privilege service accounts · no API keys · rate limits · CSP · pseudonymous data to the LLM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Process flow diagram or Use-case diagram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96" name="Picture 95" descr="fraudlens-3-investigation-flo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608" y="1216783"/>
            <a:ext cx="8558784" cy="3510032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292608" y="4736592"/>
            <a:ext cx="8558784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800" b="0">
                <a:solidFill>
                  <a:srgbClr val="5F6368"/>
                </a:solidFill>
                <a:latin typeface="Google Sans Flex"/>
              </a:rPr>
              <a:t>Investigation flow: payment → screening → alert → ADK agents (+ Laya in parallel) → evidence → Gemini → citation check → policy → simulated action → analyst → feedback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Wireframes/Mock diagrams of the proposed solution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04" name="Picture 103" descr="ui-dashbo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608" y="1234440"/>
            <a:ext cx="4187952" cy="2617470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05" name="TextBox 104"/>
          <p:cNvSpPr txBox="1"/>
          <p:nvPr/>
        </p:nvSpPr>
        <p:spPr>
          <a:xfrm>
            <a:off x="292608" y="3897630"/>
            <a:ext cx="4187952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5F6368"/>
                </a:solidFill>
                <a:latin typeface="Google Sans Flex"/>
              </a:rPr>
              <a:t>Fraud Operations Dashboard · KPIs, priority queue, alert mix, model performance, insights</a:t>
            </a:r>
          </a:p>
        </p:txBody>
      </p:sp>
      <p:pic>
        <p:nvPicPr>
          <p:cNvPr id="106" name="Picture 105" descr="ui-c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0" y="1234440"/>
            <a:ext cx="4187952" cy="2617470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07" name="TextBox 106"/>
          <p:cNvSpPr txBox="1"/>
          <p:nvPr/>
        </p:nvSpPr>
        <p:spPr>
          <a:xfrm>
            <a:off x="4663440" y="3897630"/>
            <a:ext cx="4187952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5F6368"/>
                </a:solidFill>
                <a:latin typeface="Google Sans Flex"/>
              </a:rPr>
              <a:t>Case workspace · cited Gemini summary, policy tier, autonomy level, quick actions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92608" y="4736592"/>
            <a:ext cx="8558784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800" b="0">
                <a:solidFill>
                  <a:srgbClr val="5F6368"/>
                </a:solidFill>
                <a:latin typeface="Google Sans Flex"/>
              </a:rPr>
              <a:t>Screens from the live prototype (synthetic data)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Architecture diagram of the proposed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12" name="Picture 111" descr="fraudlens-production-architectu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322" y="1188720"/>
            <a:ext cx="7973354" cy="3566160"/>
          </a:xfrm>
          <a:prstGeom prst="rect">
            <a:avLst/>
          </a:prstGeom>
        </p:spPr>
      </p:pic>
      <p:sp>
        <p:nvSpPr>
          <p:cNvPr id="113" name="TextBox 112"/>
          <p:cNvSpPr txBox="1"/>
          <p:nvPr/>
        </p:nvSpPr>
        <p:spPr>
          <a:xfrm>
            <a:off x="292608" y="4736592"/>
            <a:ext cx="8558784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800" b="0">
                <a:solidFill>
                  <a:srgbClr val="5F6368"/>
                </a:solidFill>
                <a:latin typeface="Google Sans Flex"/>
              </a:rPr>
              <a:t>Production architecture on Google Cloud · ✓ = running in the live prototype today (Cloud Run, Vertex AI Gemini, Laya, Firestore, Logging, Monitoring, IAM, Cloud Build, Artifact Registry)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Technologies to be used in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20" name="Rounded Rectangle 119"/>
          <p:cNvSpPr/>
          <p:nvPr/>
        </p:nvSpPr>
        <p:spPr>
          <a:xfrm>
            <a:off x="292608" y="1188720"/>
            <a:ext cx="2761488" cy="1719072"/>
          </a:xfrm>
          <a:prstGeom prst="roundRect">
            <a:avLst>
              <a:gd name="adj" fmla="val 6000"/>
            </a:avLst>
          </a:prstGeom>
          <a:solidFill>
            <a:srgbClr val="F3E8FD"/>
          </a:solidFill>
          <a:ln w="12700">
            <a:solidFill>
              <a:srgbClr val="843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8430CE"/>
                </a:solidFill>
                <a:latin typeface="Google Sans Flex SemiBold"/>
              </a:rPr>
              <a:t>Google AI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</a:rPr>
              <a:t>•  </a:t>
            </a:r>
            <a:r>
              <a:rPr sz="1000" b="0">
                <a:solidFill>
                  <a:srgbClr val="202124"/>
                </a:solidFill>
                <a:latin typeface="Google Sans Flex"/>
              </a:rPr>
              <a:t>Gemini 3.5 Flash on Vertex AI (Gemini Enterprise Agent Platform)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</a:rPr>
              <a:t>•  </a:t>
            </a:r>
            <a:r>
              <a:rPr sz="1000" b="0">
                <a:solidFill>
                  <a:srgbClr val="202124"/>
                </a:solidFill>
                <a:latin typeface="Google Sans Flex"/>
              </a:rPr>
              <a:t>Google Agent Development Kit (ADK) 2.12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</a:rPr>
              <a:t>•  </a:t>
            </a:r>
            <a:r>
              <a:rPr sz="1000" b="0">
                <a:solidFill>
                  <a:srgbClr val="202124"/>
                </a:solidFill>
                <a:latin typeface="Google Sans Flex"/>
              </a:rPr>
              <a:t>google-genai SDK · schema-constrained output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3172968" y="1188720"/>
            <a:ext cx="2761488" cy="1719072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A73E8"/>
                </a:solidFill>
                <a:latin typeface="Google Sans Flex SemiBold"/>
              </a:rPr>
              <a:t>Google Cloud (live)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</a:rPr>
              <a:t>•  </a:t>
            </a:r>
            <a:r>
              <a:rPr sz="1000" b="0">
                <a:solidFill>
                  <a:srgbClr val="202124"/>
                </a:solidFill>
                <a:latin typeface="Google Sans Flex"/>
              </a:rPr>
              <a:t>Cloud Run (app + private Laya service)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</a:rPr>
              <a:t>•  </a:t>
            </a:r>
            <a:r>
              <a:rPr sz="1000" b="0">
                <a:solidFill>
                  <a:srgbClr val="202124"/>
                </a:solidFill>
                <a:latin typeface="Google Sans Flex"/>
              </a:rPr>
              <a:t>Firestore · Cloud Logging · Cloud Monitoring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</a:rPr>
              <a:t>•  </a:t>
            </a:r>
            <a:r>
              <a:rPr sz="1000" b="0">
                <a:solidFill>
                  <a:srgbClr val="202124"/>
                </a:solidFill>
                <a:latin typeface="Google Sans Flex"/>
              </a:rPr>
              <a:t>Cloud Build · Artifact Registry · IAM (ADC, no keys)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6053328" y="1188720"/>
            <a:ext cx="2761488" cy="1719072"/>
          </a:xfrm>
          <a:prstGeom prst="roundRect">
            <a:avLst>
              <a:gd name="adj" fmla="val 6000"/>
            </a:avLst>
          </a:prstGeom>
          <a:solidFill>
            <a:srgbClr val="E6F4EA"/>
          </a:solidFill>
          <a:ln w="12700">
            <a:solidFill>
              <a:srgbClr val="188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88038"/>
                </a:solidFill>
                <a:latin typeface="Google Sans Flex SemiBold"/>
              </a:rPr>
              <a:t>ML, data &amp; graph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</a:rPr>
              <a:t>•  </a:t>
            </a:r>
            <a:r>
              <a:rPr sz="1000" b="0">
                <a:solidFill>
                  <a:srgbClr val="202124"/>
                </a:solidFill>
                <a:latin typeface="Google Sans Flex"/>
              </a:rPr>
              <a:t>scikit-learn: HistGradientBoosting + Isolation Forest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</a:rPr>
              <a:t>•  </a:t>
            </a:r>
            <a:r>
              <a:rPr sz="1000" b="0">
                <a:solidFill>
                  <a:srgbClr val="202124"/>
                </a:solidFill>
                <a:latin typeface="Google Sans Flex"/>
              </a:rPr>
              <a:t>pandas · NumPy · PyArrow (Parquet)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</a:rPr>
              <a:t>•  </a:t>
            </a:r>
            <a:r>
              <a:rPr sz="1000" b="0">
                <a:solidFill>
                  <a:srgbClr val="202124"/>
                </a:solidFill>
                <a:latin typeface="Google Sans Flex"/>
              </a:rPr>
              <a:t>NetworkX entity graph · joblib model registry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292608" y="3017520"/>
            <a:ext cx="2761488" cy="1719072"/>
          </a:xfrm>
          <a:prstGeom prst="roundRect">
            <a:avLst>
              <a:gd name="adj" fmla="val 6000"/>
            </a:avLst>
          </a:prstGeom>
          <a:solidFill>
            <a:srgbClr val="FEF7E0"/>
          </a:solidFill>
          <a:ln w="12700">
            <a:solidFill>
              <a:srgbClr val="E37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E37400"/>
                </a:solidFill>
                <a:latin typeface="Google Sans Flex SemiBold"/>
              </a:rPr>
              <a:t>Backend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</a:rPr>
              <a:t>•  </a:t>
            </a:r>
            <a:r>
              <a:rPr sz="1000" b="0">
                <a:solidFill>
                  <a:srgbClr val="202124"/>
                </a:solidFill>
                <a:latin typeface="Google Sans Flex"/>
              </a:rPr>
              <a:t>Python 3.12 · FastAPI · Pydantic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</a:rPr>
              <a:t>•  </a:t>
            </a:r>
            <a:r>
              <a:rPr sz="1000" b="0">
                <a:solidFill>
                  <a:srgbClr val="202124"/>
                </a:solidFill>
                <a:latin typeface="Google Sans Flex"/>
              </a:rPr>
              <a:t>Deterministic policy engine and case service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</a:rPr>
              <a:t>•  </a:t>
            </a:r>
            <a:r>
              <a:rPr sz="1000" b="0">
                <a:solidFill>
                  <a:srgbClr val="202124"/>
                </a:solidFill>
                <a:latin typeface="Google Sans Flex"/>
              </a:rPr>
              <a:t>uv · pytest · ruff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3172968" y="3017520"/>
            <a:ext cx="2761488" cy="1719072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A73E8"/>
                </a:solidFill>
                <a:latin typeface="Google Sans Flex SemiBold"/>
              </a:rPr>
              <a:t>Frontend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</a:rPr>
              <a:t>•  </a:t>
            </a:r>
            <a:r>
              <a:rPr sz="1000" b="0">
                <a:solidFill>
                  <a:srgbClr val="202124"/>
                </a:solidFill>
                <a:latin typeface="Google Sans Flex"/>
              </a:rPr>
              <a:t>React 19 · TypeScript · Vite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</a:rPr>
              <a:t>•  </a:t>
            </a:r>
            <a:r>
              <a:rPr sz="1000" b="0">
                <a:solidFill>
                  <a:srgbClr val="202124"/>
                </a:solidFill>
                <a:latin typeface="Google Sans Flex"/>
              </a:rPr>
              <a:t>Tailwind CSS · TanStack Query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</a:rPr>
              <a:t>•  </a:t>
            </a:r>
            <a:r>
              <a:rPr sz="1000" b="0">
                <a:solidFill>
                  <a:srgbClr val="202124"/>
                </a:solidFill>
                <a:latin typeface="Google Sans Flex"/>
              </a:rPr>
              <a:t>Recharts · Cytoscape.js · lucide icons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6053328" y="3017520"/>
            <a:ext cx="2761488" cy="1719072"/>
          </a:xfrm>
          <a:prstGeom prst="roundRect">
            <a:avLst>
              <a:gd name="adj" fmla="val 6000"/>
            </a:avLst>
          </a:prstGeom>
          <a:solidFill>
            <a:srgbClr val="FCE8E6"/>
          </a:solidFill>
          <a:ln w="12700">
            <a:solidFill>
              <a:srgbClr val="D930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D93025"/>
                </a:solidFill>
                <a:latin typeface="Google Sans Flex SemiBold"/>
              </a:rPr>
              <a:t>Decision model &amp; production extensions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</a:rPr>
              <a:t>•  </a:t>
            </a:r>
            <a:r>
              <a:rPr sz="1000" b="0">
                <a:solidFill>
                  <a:srgbClr val="202124"/>
                </a:solidFill>
                <a:latin typeface="Google Sans Flex"/>
              </a:rPr>
              <a:t>Laya typed-decision model (open weights, PyTorch CPU)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</a:rPr>
              <a:t>•  </a:t>
            </a:r>
            <a:r>
              <a:rPr sz="1000" b="0">
                <a:solidFill>
                  <a:srgbClr val="202124"/>
                </a:solidFill>
                <a:latin typeface="Google Sans Flex"/>
              </a:rPr>
              <a:t>Pub/Sub · BigQuery · Spanner Graph · IAP · Cloud Armor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</a:rPr>
              <a:t>•  </a:t>
            </a:r>
            <a:r>
              <a:rPr sz="1000" b="0">
                <a:solidFill>
                  <a:srgbClr val="202124"/>
                </a:solidFill>
                <a:latin typeface="Google Sans Flex"/>
              </a:rPr>
              <a:t>VPC Service Controls · Cloud KMS · Secret Manager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2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Estimated implementation cost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292608" y="1188720"/>
            <a:ext cx="402336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A73E8"/>
                </a:solidFill>
                <a:latin typeface="Google Sans Flex SemiBold"/>
              </a:rPr>
              <a:t>Measured unit cost (real Gemini runs)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5F6368"/>
                </a:solidFill>
                <a:latin typeface="Google Sans Flex"/>
              </a:rPr>
              <a:t>Gemini is called only for alerts (0.717% of transactions). Screening uses no LLM.</a:t>
            </a:r>
          </a:p>
        </p:txBody>
      </p:sp>
      <p:graphicFrame>
        <p:nvGraphicFramePr>
          <p:cNvPr id="129" name="Table 128"/>
          <p:cNvGraphicFramePr>
            <a:graphicFrameLocks noGrp="1"/>
          </p:cNvGraphicFramePr>
          <p:nvPr/>
        </p:nvGraphicFramePr>
        <p:xfrm>
          <a:off x="292608" y="1874519"/>
          <a:ext cx="402336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1371600"/>
              </a:tblGrid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Google Sans Flex SemiBold"/>
                        </a:rPr>
                        <a:t>Metric</a:t>
                      </a:r>
                    </a:p>
                  </a:txBody>
                  <a:tcPr marL="54864" marR="54864" marT="18288" marB="18288" anchor="ctr"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  <a:latin typeface="Google Sans Flex SemiBold"/>
                        </a:rPr>
                        <a:t>Value</a:t>
                      </a:r>
                    </a:p>
                  </a:txBody>
                  <a:tcPr marL="54864" marR="54864" marT="18288" marB="18288" anchor="ctr">
                    <a:solidFill>
                      <a:srgbClr val="1A73E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02124"/>
                          </a:solidFill>
                          <a:latin typeface="Google Sans Flex SemiBold"/>
                        </a:rPr>
                        <a:t>Tokens per investigated case (in / out)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02124"/>
                          </a:solidFill>
                          <a:latin typeface="Google Sans Flex"/>
                        </a:rPr>
                        <a:t>12,796 / 4,538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02124"/>
                          </a:solidFill>
                          <a:latin typeface="Google Sans Flex SemiBold"/>
                        </a:rPr>
                        <a:t>LLM cost per investigated case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02124"/>
                          </a:solidFill>
                          <a:latin typeface="Google Sans Flex"/>
                        </a:rPr>
                        <a:t>$0.060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02124"/>
                          </a:solidFill>
                          <a:latin typeface="Google Sans Flex SemiBold"/>
                        </a:rPr>
                        <a:t>LLM cost per 1,000 transactions screened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02124"/>
                          </a:solidFill>
                          <a:latin typeface="Google Sans Flex"/>
                        </a:rPr>
                        <a:t>$0.43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02124"/>
                          </a:solidFill>
                          <a:latin typeface="Google Sans Flex SemiBold"/>
                        </a:rPr>
                        <a:t>Investigation latency p50 / p95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02124"/>
                          </a:solidFill>
                          <a:latin typeface="Google Sans Flex"/>
                        </a:rPr>
                        <a:t>18.8 s / 23.2 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0" name="TextBox 129"/>
          <p:cNvSpPr txBox="1"/>
          <p:nvPr/>
        </p:nvSpPr>
        <p:spPr>
          <a:xfrm>
            <a:off x="4572000" y="1188720"/>
            <a:ext cx="425196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8430CE"/>
                </a:solidFill>
                <a:latin typeface="Google Sans Flex SemiBold"/>
              </a:rPr>
              <a:t>LLM cost at scale (derived from the measured unit cost)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5F6368"/>
                </a:solidFill>
                <a:latin typeface="Google Sans Flex"/>
              </a:rPr>
              <a:t>Same 0.717% alert rate and token mix; excludes infrastructure.</a:t>
            </a:r>
          </a:p>
        </p:txBody>
      </p:sp>
      <p:graphicFrame>
        <p:nvGraphicFramePr>
          <p:cNvPr id="131" name="Table 130"/>
          <p:cNvGraphicFramePr>
            <a:graphicFrameLocks noGrp="1"/>
          </p:cNvGraphicFramePr>
          <p:nvPr/>
        </p:nvGraphicFramePr>
        <p:xfrm>
          <a:off x="4572000" y="1874519"/>
          <a:ext cx="4251960" cy="1024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371600"/>
                <a:gridCol w="1417320"/>
              </a:tblGrid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Google Sans Flex SemiBold"/>
                        </a:rPr>
                        <a:t>Transactions / month</a:t>
                      </a:r>
                    </a:p>
                  </a:txBody>
                  <a:tcPr marL="54864" marR="54864" marT="18288" marB="18288" anchor="ctr">
                    <a:solidFill>
                      <a:srgbClr val="8430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  <a:latin typeface="Google Sans Flex SemiBold"/>
                        </a:rPr>
                        <a:t>Alerts investigated</a:t>
                      </a:r>
                    </a:p>
                  </a:txBody>
                  <a:tcPr marL="54864" marR="54864" marT="18288" marB="18288" anchor="ctr">
                    <a:solidFill>
                      <a:srgbClr val="8430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  <a:latin typeface="Google Sans Flex SemiBold"/>
                        </a:rPr>
                        <a:t>Gemini cost / month</a:t>
                      </a:r>
                    </a:p>
                  </a:txBody>
                  <a:tcPr marL="54864" marR="54864" marT="18288" marB="18288" anchor="ctr">
                    <a:solidFill>
                      <a:srgbClr val="8430C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02124"/>
                          </a:solidFill>
                          <a:latin typeface="Google Sans Flex SemiBold"/>
                        </a:rPr>
                        <a:t>1 million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02124"/>
                          </a:solidFill>
                          <a:latin typeface="Google Sans Flex"/>
                        </a:rPr>
                        <a:t>≈ 7,170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02124"/>
                          </a:solidFill>
                          <a:latin typeface="Google Sans Flex"/>
                        </a:rPr>
                        <a:t>≈ $430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02124"/>
                          </a:solidFill>
                          <a:latin typeface="Google Sans Flex SemiBold"/>
                        </a:rPr>
                        <a:t>10 million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02124"/>
                          </a:solidFill>
                          <a:latin typeface="Google Sans Flex"/>
                        </a:rPr>
                        <a:t>≈ 71,700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02124"/>
                          </a:solidFill>
                          <a:latin typeface="Google Sans Flex"/>
                        </a:rPr>
                        <a:t>≈ $4,300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02124"/>
                          </a:solidFill>
                          <a:latin typeface="Google Sans Flex SemiBold"/>
                        </a:rPr>
                        <a:t>100 million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02124"/>
                          </a:solidFill>
                          <a:latin typeface="Google Sans Flex"/>
                        </a:rPr>
                        <a:t>≈ 717,000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02124"/>
                          </a:solidFill>
                          <a:latin typeface="Google Sans Flex"/>
                        </a:rPr>
                        <a:t>≈ $43,000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2" name="Rounded Rectangle 131"/>
          <p:cNvSpPr/>
          <p:nvPr/>
        </p:nvSpPr>
        <p:spPr>
          <a:xfrm>
            <a:off x="292608" y="3429000"/>
            <a:ext cx="8558784" cy="1298448"/>
          </a:xfrm>
          <a:prstGeom prst="roundRect">
            <a:avLst>
              <a:gd name="adj" fmla="val 6000"/>
            </a:avLst>
          </a:prstGeom>
          <a:solidFill>
            <a:srgbClr val="E6F4EA"/>
          </a:solidFill>
          <a:ln w="12700">
            <a:solidFill>
              <a:srgbClr val="188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88038"/>
                </a:solidFill>
                <a:latin typeface="Google Sans Flex SemiBold"/>
              </a:rPr>
              <a:t>Infrastructure &amp; cost levers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</a:rPr>
              <a:t>•  </a:t>
            </a:r>
            <a:r>
              <a:rPr sz="1000" b="0">
                <a:solidFill>
                  <a:srgbClr val="202124"/>
                </a:solidFill>
                <a:latin typeface="Google Sans Flex"/>
              </a:rPr>
              <a:t>Cloud Run with request-based billing scales to zero; the prototype runs within a ₹2,000 budget alert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</a:rPr>
              <a:t>•  </a:t>
            </a:r>
            <a:r>
              <a:rPr sz="1000" b="0">
                <a:solidFill>
                  <a:srgbClr val="202124"/>
                </a:solidFill>
                <a:latin typeface="Google Sans Flex"/>
              </a:rPr>
              <a:t>Firestore, Logging and Monitoring are usage-based; Laya runs on CPU only and is optional (advisory)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</a:rPr>
              <a:t>•  </a:t>
            </a:r>
            <a:r>
              <a:rPr sz="1000" b="0">
                <a:solidFill>
                  <a:srgbClr val="202124"/>
                </a:solidFill>
                <a:latin typeface="Google Sans Flex"/>
              </a:rPr>
              <a:t>Levers: daily AI investigation cap · Gemini Flash-Lite for low-risk alerts · tune the alert threshold · batch screening jobs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292608" y="4736592"/>
            <a:ext cx="8558784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800" b="0">
                <a:solidFill>
                  <a:srgbClr val="5F6368"/>
                </a:solidFill>
                <a:latin typeface="Google Sans Flex"/>
              </a:rPr>
              <a:t>Gemini 3.5 Flash list prices ($1.50 / 1M input, $9.00 / 1M output tokens; checked 17 Oct 2026, cloud.google.com/vertex-ai/generative-ai/pricing). Source: docs/metrics/agentic_eval.json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Snapshots of the prototype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36" name="Picture 135" descr="ui-que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6151" y="1188720"/>
            <a:ext cx="2340864" cy="1463040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37" name="TextBox 136"/>
          <p:cNvSpPr txBox="1"/>
          <p:nvPr/>
        </p:nvSpPr>
        <p:spPr>
          <a:xfrm>
            <a:off x="1216151" y="2651760"/>
            <a:ext cx="2340864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F6368"/>
                </a:solidFill>
                <a:latin typeface="Google Sans Flex"/>
              </a:rPr>
              <a:t>Alert queue · priority, SLA, owner, masked IDs</a:t>
            </a:r>
          </a:p>
        </p:txBody>
      </p:sp>
      <p:pic>
        <p:nvPicPr>
          <p:cNvPr id="138" name="Picture 137" descr="ui-cas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86984" y="1188720"/>
            <a:ext cx="2340864" cy="1463040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39" name="TextBox 138"/>
          <p:cNvSpPr txBox="1"/>
          <p:nvPr/>
        </p:nvSpPr>
        <p:spPr>
          <a:xfrm>
            <a:off x="5586984" y="2651760"/>
            <a:ext cx="2340864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F6368"/>
                </a:solidFill>
                <a:latin typeface="Google Sans Flex"/>
              </a:rPr>
              <a:t>Cases board · assignment, overrides, outcomes</a:t>
            </a:r>
          </a:p>
        </p:txBody>
      </p:sp>
      <p:pic>
        <p:nvPicPr>
          <p:cNvPr id="140" name="Picture 139" descr="ui-networ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6151" y="2944368"/>
            <a:ext cx="2340864" cy="1463040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41" name="TextBox 140"/>
          <p:cNvSpPr txBox="1"/>
          <p:nvPr/>
        </p:nvSpPr>
        <p:spPr>
          <a:xfrm>
            <a:off x="1216151" y="4407408"/>
            <a:ext cx="2340864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F6368"/>
                </a:solidFill>
                <a:latin typeface="Google Sans Flex"/>
              </a:rPr>
              <a:t>Entity network · mule and shared-device links</a:t>
            </a:r>
          </a:p>
        </p:txBody>
      </p:sp>
      <p:pic>
        <p:nvPicPr>
          <p:cNvPr id="142" name="Picture 141" descr="ui-control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86984" y="2944368"/>
            <a:ext cx="2340864" cy="1463040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43" name="TextBox 142"/>
          <p:cNvSpPr txBox="1"/>
          <p:nvPr/>
        </p:nvSpPr>
        <p:spPr>
          <a:xfrm>
            <a:off x="5586984" y="4407408"/>
            <a:ext cx="2340864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F6368"/>
                </a:solidFill>
                <a:latin typeface="Google Sans Flex"/>
              </a:rPr>
              <a:t>Models &amp; controls · policy rules, autonomy ladder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292608" y="4736592"/>
            <a:ext cx="8558784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800" b="0">
                <a:solidFill>
                  <a:srgbClr val="5F6368"/>
                </a:solidFill>
                <a:latin typeface="Google Sans Flex"/>
              </a:rPr>
              <a:t>Live prototype: https://fraudlens-579191985047.us-central1.run.app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Prototype Performance report/Benchmarking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292608" y="1143000"/>
            <a:ext cx="8558784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1A73E8"/>
                </a:solidFill>
                <a:latin typeface="Google Sans Flex SemiBold"/>
              </a:rPr>
              <a:t>First-stage detection · held-out synthetic test split (days 75–89, 30,828 transactions)</a:t>
            </a:r>
          </a:p>
        </p:txBody>
      </p:sp>
      <p:graphicFrame>
        <p:nvGraphicFramePr>
          <p:cNvPr id="145" name="Table 144"/>
          <p:cNvGraphicFramePr>
            <a:graphicFrameLocks noGrp="1"/>
          </p:cNvGraphicFramePr>
          <p:nvPr/>
        </p:nvGraphicFramePr>
        <p:xfrm>
          <a:off x="292608" y="1435608"/>
          <a:ext cx="8558784" cy="768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868680"/>
                <a:gridCol w="868680"/>
                <a:gridCol w="868680"/>
                <a:gridCol w="868680"/>
                <a:gridCol w="914400"/>
                <a:gridCol w="1655064"/>
              </a:tblGrid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Google Sans Flex SemiBold"/>
                        </a:rPr>
                        <a:t>Variant</a:t>
                      </a:r>
                    </a:p>
                  </a:txBody>
                  <a:tcPr marL="54864" marR="54864" marT="18288" marB="18288" anchor="ctr"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  <a:latin typeface="Google Sans Flex SemiBold"/>
                        </a:rPr>
                        <a:t>Precision</a:t>
                      </a:r>
                    </a:p>
                  </a:txBody>
                  <a:tcPr marL="54864" marR="54864" marT="18288" marB="18288" anchor="ctr"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  <a:latin typeface="Google Sans Flex SemiBold"/>
                        </a:rPr>
                        <a:t>Recall</a:t>
                      </a:r>
                    </a:p>
                  </a:txBody>
                  <a:tcPr marL="54864" marR="54864" marT="18288" marB="18288" anchor="ctr"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  <a:latin typeface="Google Sans Flex SemiBold"/>
                        </a:rPr>
                        <a:t>PR-AUC</a:t>
                      </a:r>
                    </a:p>
                  </a:txBody>
                  <a:tcPr marL="54864" marR="54864" marT="18288" marB="18288" anchor="ctr"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  <a:latin typeface="Google Sans Flex SemiBold"/>
                        </a:rPr>
                        <a:t>FP / 10k</a:t>
                      </a:r>
                    </a:p>
                  </a:txBody>
                  <a:tcPr marL="54864" marR="54864" marT="18288" marB="18288" anchor="ctr"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  <a:latin typeface="Google Sans Flex SemiBold"/>
                        </a:rPr>
                        <a:t>Alert rate</a:t>
                      </a:r>
                    </a:p>
                  </a:txBody>
                  <a:tcPr marL="54864" marR="54864" marT="18288" marB="18288" anchor="ctr"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  <a:latin typeface="Google Sans Flex SemiBold"/>
                        </a:rPr>
                        <a:t>Fraud value captured</a:t>
                      </a:r>
                    </a:p>
                  </a:txBody>
                  <a:tcPr marL="54864" marR="54864" marT="18288" marB="18288" anchor="ctr">
                    <a:solidFill>
                      <a:srgbClr val="1A73E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02124"/>
                          </a:solidFill>
                          <a:latin typeface="Google Sans Flex SemiBold"/>
                        </a:rPr>
                        <a:t>A · Rules only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02124"/>
                          </a:solidFill>
                          <a:latin typeface="Google Sans Flex"/>
                        </a:rPr>
                        <a:t>0.922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02124"/>
                          </a:solidFill>
                          <a:latin typeface="Google Sans Flex"/>
                        </a:rPr>
                        <a:t>0.659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02124"/>
                          </a:solidFill>
                          <a:latin typeface="Google Sans Flex"/>
                        </a:rPr>
                        <a:t>0.675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02124"/>
                          </a:solidFill>
                          <a:latin typeface="Google Sans Flex"/>
                        </a:rPr>
                        <a:t>3.89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02124"/>
                          </a:solidFill>
                          <a:latin typeface="Google Sans Flex"/>
                        </a:rPr>
                        <a:t>0.50%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02124"/>
                          </a:solidFill>
                          <a:latin typeface="Google Sans Flex"/>
                        </a:rPr>
                        <a:t>92.4%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02124"/>
                          </a:solidFill>
                          <a:latin typeface="Google Sans Flex SemiBold"/>
                        </a:rPr>
                        <a:t>B · ML + anomaly + rules (deployed)</a:t>
                      </a:r>
                    </a:p>
                  </a:txBody>
                  <a:tcPr marL="54864" marR="54864" marT="18288" marB="18288"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02124"/>
                          </a:solidFill>
                          <a:latin typeface="Google Sans Flex SemiBold"/>
                        </a:rPr>
                        <a:t>0.824</a:t>
                      </a:r>
                    </a:p>
                  </a:txBody>
                  <a:tcPr marL="54864" marR="54864" marT="18288" marB="18288"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02124"/>
                          </a:solidFill>
                          <a:latin typeface="Google Sans Flex SemiBold"/>
                        </a:rPr>
                        <a:t>0.851</a:t>
                      </a:r>
                    </a:p>
                  </a:txBody>
                  <a:tcPr marL="54864" marR="54864" marT="18288" marB="18288"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02124"/>
                          </a:solidFill>
                          <a:latin typeface="Google Sans Flex SemiBold"/>
                        </a:rPr>
                        <a:t>0.900</a:t>
                      </a:r>
                    </a:p>
                  </a:txBody>
                  <a:tcPr marL="54864" marR="54864" marT="18288" marB="18288"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02124"/>
                          </a:solidFill>
                          <a:latin typeface="Google Sans Flex SemiBold"/>
                        </a:rPr>
                        <a:t>12.65</a:t>
                      </a:r>
                    </a:p>
                  </a:txBody>
                  <a:tcPr marL="54864" marR="54864" marT="18288" marB="18288"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02124"/>
                          </a:solidFill>
                          <a:latin typeface="Google Sans Flex SemiBold"/>
                        </a:rPr>
                        <a:t>0.72%</a:t>
                      </a:r>
                    </a:p>
                  </a:txBody>
                  <a:tcPr marL="54864" marR="54864" marT="18288" marB="18288"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02124"/>
                          </a:solidFill>
                          <a:latin typeface="Google Sans Flex SemiBold"/>
                        </a:rPr>
                        <a:t>73.7%</a:t>
                      </a:r>
                    </a:p>
                  </a:txBody>
                  <a:tcPr marL="54864" marR="54864" marT="18288" marB="18288" anchor="ctr">
                    <a:solidFill>
                      <a:srgbClr val="E8F0FE"/>
                    </a:solidFill>
                  </a:tcPr>
                </a:tc>
              </a:tr>
            </a:tbl>
          </a:graphicData>
        </a:graphic>
      </p:graphicFrame>
      <p:sp>
        <p:nvSpPr>
          <p:cNvPr id="146" name="TextBox 145"/>
          <p:cNvSpPr txBox="1"/>
          <p:nvPr/>
        </p:nvSpPr>
        <p:spPr>
          <a:xfrm>
            <a:off x="292608" y="2286000"/>
            <a:ext cx="8558784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8430CE"/>
                </a:solidFill>
                <a:latin typeface="Google Sans Flex SemiBold"/>
              </a:rPr>
              <a:t>D · B + agentic Gemini investigation · 12 stratified test alerts (8 fraud, 4 legitimate) + 2 golden scenarios</a:t>
            </a:r>
          </a:p>
        </p:txBody>
      </p:sp>
      <p:graphicFrame>
        <p:nvGraphicFramePr>
          <p:cNvPr id="147" name="Table 146"/>
          <p:cNvGraphicFramePr>
            <a:graphicFrameLocks noGrp="1"/>
          </p:cNvGraphicFramePr>
          <p:nvPr/>
        </p:nvGraphicFramePr>
        <p:xfrm>
          <a:off x="292608" y="2578608"/>
          <a:ext cx="8558784" cy="512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325880"/>
                <a:gridCol w="1234440"/>
                <a:gridCol w="1508760"/>
                <a:gridCol w="1463040"/>
                <a:gridCol w="1426464"/>
              </a:tblGrid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Google Sans Flex SemiBold"/>
                        </a:rPr>
                        <a:t>Tier vs label agreement</a:t>
                      </a:r>
                    </a:p>
                  </a:txBody>
                  <a:tcPr marL="54864" marR="54864" marT="18288" marB="18288" anchor="ctr">
                    <a:solidFill>
                      <a:srgbClr val="8430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  <a:latin typeface="Google Sans Flex SemiBold"/>
                        </a:rPr>
                        <a:t>Evidence validity</a:t>
                      </a:r>
                    </a:p>
                  </a:txBody>
                  <a:tcPr marL="54864" marR="54864" marT="18288" marB="18288" anchor="ctr">
                    <a:solidFill>
                      <a:srgbClr val="8430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  <a:latin typeface="Google Sans Flex SemiBold"/>
                        </a:rPr>
                        <a:t>Invalid citations</a:t>
                      </a:r>
                    </a:p>
                  </a:txBody>
                  <a:tcPr marL="54864" marR="54864" marT="18288" marB="18288" anchor="ctr">
                    <a:solidFill>
                      <a:srgbClr val="8430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  <a:latin typeface="Google Sans Flex SemiBold"/>
                        </a:rPr>
                        <a:t>Latency p50 / p95</a:t>
                      </a:r>
                    </a:p>
                  </a:txBody>
                  <a:tcPr marL="54864" marR="54864" marT="18288" marB="18288" anchor="ctr">
                    <a:solidFill>
                      <a:srgbClr val="8430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  <a:latin typeface="Google Sans Flex SemiBold"/>
                        </a:rPr>
                        <a:t>Tokens in / out</a:t>
                      </a:r>
                    </a:p>
                  </a:txBody>
                  <a:tcPr marL="54864" marR="54864" marT="18288" marB="18288" anchor="ctr">
                    <a:solidFill>
                      <a:srgbClr val="8430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  <a:latin typeface="Google Sans Flex SemiBold"/>
                        </a:rPr>
                        <a:t>LLM $ / 1,000 txns</a:t>
                      </a:r>
                    </a:p>
                  </a:txBody>
                  <a:tcPr marL="54864" marR="54864" marT="18288" marB="18288" anchor="ctr">
                    <a:solidFill>
                      <a:srgbClr val="8430C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02124"/>
                          </a:solidFill>
                          <a:latin typeface="Google Sans Flex SemiBold"/>
                        </a:rPr>
                        <a:t>83.3%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02124"/>
                          </a:solidFill>
                          <a:latin typeface="Google Sans Flex"/>
                        </a:rPr>
                        <a:t>100%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02124"/>
                          </a:solidFill>
                          <a:latin typeface="Google Sans Flex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02124"/>
                          </a:solidFill>
                          <a:latin typeface="Google Sans Flex"/>
                        </a:rPr>
                        <a:t>18.8 s / 23.2 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02124"/>
                          </a:solidFill>
                          <a:latin typeface="Google Sans Flex"/>
                        </a:rPr>
                        <a:t>12.8k / 4.5k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02124"/>
                          </a:solidFill>
                          <a:latin typeface="Google Sans Flex"/>
                        </a:rPr>
                        <a:t>$0.43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8" name="TextBox 147"/>
          <p:cNvSpPr txBox="1"/>
          <p:nvPr/>
        </p:nvSpPr>
        <p:spPr>
          <a:xfrm>
            <a:off x="292608" y="3200400"/>
            <a:ext cx="8558784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E37400"/>
                </a:solidFill>
                <a:latin typeface="Google Sans Flex SemiBold"/>
              </a:rPr>
              <a:t>C · B + Laya open decision model (zero-shot, all 221 test alerts)</a:t>
            </a:r>
          </a:p>
        </p:txBody>
      </p:sp>
      <p:graphicFrame>
        <p:nvGraphicFramePr>
          <p:cNvPr id="149" name="Table 148"/>
          <p:cNvGraphicFramePr>
            <a:graphicFrameLocks noGrp="1"/>
          </p:cNvGraphicFramePr>
          <p:nvPr/>
        </p:nvGraphicFramePr>
        <p:xfrm>
          <a:off x="292608" y="3493008"/>
          <a:ext cx="8558784" cy="512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1737360"/>
                <a:gridCol w="1828800"/>
                <a:gridCol w="1600200"/>
                <a:gridCol w="1700784"/>
              </a:tblGrid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Google Sans Flex SemiBold"/>
                        </a:rPr>
                        <a:t>Routed to investigate</a:t>
                      </a:r>
                    </a:p>
                  </a:txBody>
                  <a:tcPr marL="54864" marR="54864" marT="18288" marB="18288" anchor="ctr">
                    <a:solidFill>
                      <a:srgbClr val="E37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  <a:latin typeface="Google Sans Flex SemiBold"/>
                        </a:rPr>
                        <a:t>Precision / recall</a:t>
                      </a:r>
                    </a:p>
                  </a:txBody>
                  <a:tcPr marL="54864" marR="54864" marT="18288" marB="18288" anchor="ctr">
                    <a:solidFill>
                      <a:srgbClr val="E37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  <a:latin typeface="Google Sans Flex SemiBold"/>
                        </a:rPr>
                        <a:t>Gemini escalations avoided</a:t>
                      </a:r>
                    </a:p>
                  </a:txBody>
                  <a:tcPr marL="54864" marR="54864" marT="18288" marB="18288" anchor="ctr">
                    <a:solidFill>
                      <a:srgbClr val="E37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  <a:latin typeface="Google Sans Flex SemiBold"/>
                        </a:rPr>
                        <a:t>AUC P(ATO) / P(mule)</a:t>
                      </a:r>
                    </a:p>
                  </a:txBody>
                  <a:tcPr marL="54864" marR="54864" marT="18288" marB="18288" anchor="ctr">
                    <a:solidFill>
                      <a:srgbClr val="E37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FFFFFF"/>
                          </a:solidFill>
                          <a:latin typeface="Google Sans Flex SemiBold"/>
                        </a:rPr>
                        <a:t>Laya latency p50 (CPU)</a:t>
                      </a:r>
                    </a:p>
                  </a:txBody>
                  <a:tcPr marL="54864" marR="54864" marT="18288" marB="18288" anchor="ctr">
                    <a:solidFill>
                      <a:srgbClr val="E3740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02124"/>
                          </a:solidFill>
                          <a:latin typeface="Google Sans Flex SemiBold"/>
                        </a:rPr>
                        <a:t>221 of 221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02124"/>
                          </a:solidFill>
                          <a:latin typeface="Google Sans Flex"/>
                        </a:rPr>
                        <a:t>0.824 / 0.851 (= B)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02124"/>
                          </a:solidFill>
                          <a:latin typeface="Google Sans Flex"/>
                        </a:rPr>
                        <a:t>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02124"/>
                          </a:solidFill>
                          <a:latin typeface="Google Sans Flex"/>
                        </a:rPr>
                        <a:t>0.35 / 0.70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02124"/>
                          </a:solidFill>
                          <a:latin typeface="Google Sans Flex"/>
                        </a:rPr>
                        <a:t>9.4 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0" name="TextBox 149"/>
          <p:cNvSpPr txBox="1"/>
          <p:nvPr/>
        </p:nvSpPr>
        <p:spPr>
          <a:xfrm>
            <a:off x="292608" y="4114800"/>
            <a:ext cx="8558784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202124"/>
                </a:solidFill>
                <a:latin typeface="Google Sans Flex SemiBold"/>
              </a:rPr>
              <a:t>Takeaway: </a:t>
            </a:r>
            <a:r>
              <a:rPr sz="1000" b="0">
                <a:solidFill>
                  <a:srgbClr val="202124"/>
                </a:solidFill>
                <a:latin typeface="Google Sans Flex"/>
              </a:rPr>
              <a:t>ML lifts recall from 0.66 to 0.85; agents add grounded, auditable investigations at $0.06 per case; Laya adds no lift zero-shot, so it stays advisory and off the critical path.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292608" y="4736592"/>
            <a:ext cx="8558784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300"/>
              </a:spcAft>
            </a:pPr>
            <a:r>
              <a:rPr sz="800" b="0">
                <a:solidFill>
                  <a:srgbClr val="5F6368"/>
                </a:solidFill>
                <a:latin typeface="Google Sans Flex"/>
              </a:rPr>
              <a:t>All numbers are produced by scripts (docs/metrics/detection_metrics.json · agentic_eval.json · laya_eval.json · benchmark.json); synthetic data, small agentic sample: treat agreement as indicative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Additional Details/Future Development (if any)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52" name="Rounded Rectangle 151"/>
          <p:cNvSpPr/>
          <p:nvPr/>
        </p:nvSpPr>
        <p:spPr>
          <a:xfrm>
            <a:off x="292608" y="1188720"/>
            <a:ext cx="4206240" cy="1700784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A73E8"/>
                </a:solidFill>
                <a:latin typeface="Google Sans Flex SemiBold"/>
              </a:rPr>
              <a:t>Production platform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</a:rPr>
              <a:t>•  </a:t>
            </a:r>
            <a:r>
              <a:rPr sz="1000" b="0">
                <a:solidFill>
                  <a:srgbClr val="202124"/>
                </a:solidFill>
                <a:latin typeface="Google Sans Flex"/>
              </a:rPr>
              <a:t>Secured edge: Load Balancing, Cloud Armor, IAP with analyst / supervisor roles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</a:rPr>
              <a:t>•  </a:t>
            </a:r>
            <a:r>
              <a:rPr sz="1000" b="0">
                <a:solidFill>
                  <a:srgbClr val="202124"/>
                </a:solidFill>
                <a:latin typeface="Google Sans Flex"/>
              </a:rPr>
              <a:t>Pub/Sub streaming, BigQuery history, Spanner Graph for entity networks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</a:rPr>
              <a:t>•  </a:t>
            </a:r>
            <a:r>
              <a:rPr sz="1000" b="0">
                <a:solidFill>
                  <a:srgbClr val="202124"/>
                </a:solidFill>
                <a:latin typeface="Google Sans Flex"/>
              </a:rPr>
              <a:t>VPC Service Controls, CMEK (Cloud KMS), Secret Manager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4617720" y="1188720"/>
            <a:ext cx="4206240" cy="1700784"/>
          </a:xfrm>
          <a:prstGeom prst="roundRect">
            <a:avLst>
              <a:gd name="adj" fmla="val 6000"/>
            </a:avLst>
          </a:prstGeom>
          <a:solidFill>
            <a:srgbClr val="F3E8FD"/>
          </a:solidFill>
          <a:ln w="12700">
            <a:solidFill>
              <a:srgbClr val="8430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8430CE"/>
                </a:solidFill>
                <a:latin typeface="Google Sans Flex SemiBold"/>
              </a:rPr>
              <a:t>Smarter agents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</a:rPr>
              <a:t>•  </a:t>
            </a:r>
            <a:r>
              <a:rPr sz="1000" b="0">
                <a:solidFill>
                  <a:srgbClr val="202124"/>
                </a:solidFill>
                <a:latin typeface="Google Sans Flex"/>
              </a:rPr>
              <a:t>Detection agent: recommend rule and threshold changes from closed cases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</a:rPr>
              <a:t>•  </a:t>
            </a:r>
            <a:r>
              <a:rPr sz="1000" b="0">
                <a:solidFill>
                  <a:srgbClr val="202124"/>
                </a:solidFill>
                <a:latin typeface="Google Sans Flex"/>
              </a:rPr>
              <a:t>STR / FIU-IND narrative drafts with mandatory human sign-off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</a:rPr>
              <a:t>•  </a:t>
            </a:r>
            <a:r>
              <a:rPr sz="1000" b="0">
                <a:solidFill>
                  <a:srgbClr val="202124"/>
                </a:solidFill>
                <a:latin typeface="Google Sans Flex"/>
              </a:rPr>
              <a:t>Ask-the-case chat grounded on the evidence package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292608" y="2999232"/>
            <a:ext cx="4206240" cy="1700784"/>
          </a:xfrm>
          <a:prstGeom prst="roundRect">
            <a:avLst>
              <a:gd name="adj" fmla="val 6000"/>
            </a:avLst>
          </a:prstGeom>
          <a:solidFill>
            <a:srgbClr val="FEF7E0"/>
          </a:solidFill>
          <a:ln w="12700">
            <a:solidFill>
              <a:srgbClr val="E37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E37400"/>
                </a:solidFill>
                <a:latin typeface="Google Sans Flex SemiBold"/>
              </a:rPr>
              <a:t>Safe autonomy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</a:rPr>
              <a:t>•  </a:t>
            </a:r>
            <a:r>
              <a:rPr sz="1000" b="0">
                <a:solidFill>
                  <a:srgbClr val="202124"/>
                </a:solidFill>
                <a:latin typeface="Google Sans Flex"/>
              </a:rPr>
              <a:t>Shadow mode on live traffic, then L3 (sampled review) for Monitor-tier cases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</a:rPr>
              <a:t>•  </a:t>
            </a:r>
            <a:r>
              <a:rPr sz="1000" b="0">
                <a:solidFill>
                  <a:srgbClr val="202124"/>
                </a:solidFill>
                <a:latin typeface="Google Sans Flex"/>
              </a:rPr>
              <a:t>Override review and challenger models before promotion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</a:rPr>
              <a:t>•  </a:t>
            </a:r>
            <a:r>
              <a:rPr sz="1000" b="0">
                <a:solidFill>
                  <a:srgbClr val="202124"/>
                </a:solidFill>
                <a:latin typeface="Google Sans Flex"/>
              </a:rPr>
              <a:t>Fairness checks across customer segments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4617720" y="2999232"/>
            <a:ext cx="4206240" cy="1700784"/>
          </a:xfrm>
          <a:prstGeom prst="roundRect">
            <a:avLst>
              <a:gd name="adj" fmla="val 6000"/>
            </a:avLst>
          </a:prstGeom>
          <a:solidFill>
            <a:srgbClr val="E6F4EA"/>
          </a:solidFill>
          <a:ln w="12700">
            <a:solidFill>
              <a:srgbClr val="188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88038"/>
                </a:solidFill>
                <a:latin typeface="Google Sans Flex SemiBold"/>
              </a:rPr>
              <a:t>New signals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</a:rPr>
              <a:t>•  </a:t>
            </a:r>
            <a:r>
              <a:rPr sz="1000" b="0">
                <a:solidFill>
                  <a:srgbClr val="202124"/>
                </a:solidFill>
                <a:latin typeface="Google Sans Flex"/>
              </a:rPr>
              <a:t>Scam (APP) signals: active call, remote-access tools, new payee + urgency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</a:rPr>
              <a:t>•  </a:t>
            </a:r>
            <a:r>
              <a:rPr sz="1000" b="0">
                <a:solidFill>
                  <a:srgbClr val="202124"/>
                </a:solidFill>
                <a:latin typeface="Google Sans Flex"/>
              </a:rPr>
              <a:t>Device risk and behavioural biometrics</a:t>
            </a:r>
          </a:p>
          <a:p>
            <a:pPr>
              <a:spcAft>
                <a:spcPts val="200"/>
              </a:spcAft>
            </a:pPr>
            <a:r>
              <a:rPr sz="1000" b="0">
                <a:solidFill>
                  <a:srgbClr val="202124"/>
                </a:solidFill>
                <a:latin typeface="Google Sans Flex"/>
              </a:rPr>
              <a:t>•  </a:t>
            </a:r>
            <a:r>
              <a:rPr sz="1000" b="0">
                <a:solidFill>
                  <a:srgbClr val="202124"/>
                </a:solidFill>
                <a:latin typeface="Google Sans Flex"/>
              </a:rPr>
              <a:t>Privacy-preserving shared intelligence across banks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6"/>
          <p:cNvSpPr txBox="1"/>
          <p:nvPr/>
        </p:nvSpPr>
        <p:spPr>
          <a:xfrm>
            <a:off x="265350" y="663825"/>
            <a:ext cx="8943000" cy="13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Provide links to your: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GitHub Public Repository</a:t>
            </a:r>
            <a:r>
              <a:rPr>
                <a:latin typeface="Google Sans Flex"/>
                <a:hlinkClick r:id="rId5"/>
              </a:rPr>
              <a:t>:  https://github.com/karan2314/AI-Code-Builder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Demo Video Link (3 Minutes)</a:t>
            </a:r>
            <a:r>
              <a:rPr>
                <a:latin typeface="Google Sans Flex"/>
              </a:rPr>
              <a:t>:  [add the public video link]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Final Product Link</a:t>
            </a:r>
            <a:r>
              <a:rPr>
                <a:latin typeface="Google Sans Flex"/>
                <a:hlinkClick r:id="rId6"/>
              </a:rPr>
              <a:t>:  https://fraudlens-579191985047.us-central1.run.app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60" name="TextBox 159"/>
          <p:cNvSpPr txBox="1"/>
          <p:nvPr/>
        </p:nvSpPr>
        <p:spPr>
          <a:xfrm>
            <a:off x="292608" y="2057400"/>
            <a:ext cx="8558784" cy="1463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A73E8"/>
                </a:solidFill>
                <a:latin typeface="Google Sans Flex SemiBold"/>
              </a:rPr>
              <a:t>Try it in 60 seconds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202124"/>
                </a:solidFill>
                <a:latin typeface="Google Sans Flex"/>
              </a:rPr>
              <a:t>Open the live link → Overview → Run new investigation (or search TXN-HERO-185K) → watch the agents collect evidence → read the cited Gemini summary → approve the Tier 3 case or override it with a reason.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5F6368"/>
                </a:solidFill>
                <a:latin typeface="Google Sans Flex"/>
              </a:rPr>
              <a:t>Synthetic data only · every account action is simulated · Gemini 3.5 Flash on Vertex AI · Google ADK · Cloud Run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 title="Frame 1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